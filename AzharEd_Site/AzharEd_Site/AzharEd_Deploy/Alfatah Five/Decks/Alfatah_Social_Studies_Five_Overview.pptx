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247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040880" y="-1554480"/>
            <a:ext cx="6949440" cy="6949440"/>
          </a:xfrm>
          <a:prstGeom prst="ellipse">
            <a:avLst/>
          </a:prstGeom>
          <a:solidFill>
            <a:srgbClr val="B85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66960" y="4572000"/>
            <a:ext cx="2926080" cy="2926080"/>
          </a:xfrm>
          <a:prstGeom prst="ellipse">
            <a:avLst/>
          </a:prstGeom>
          <a:solidFill>
            <a:srgbClr val="E26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29016" y="1304916"/>
            <a:ext cx="3447288" cy="424816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-0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451220"/>
            <a:ext cx="3154680" cy="395555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457200"/>
            <a:ext cx="4114800" cy="1406427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_azh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731520"/>
            <a:ext cx="1600200" cy="857787"/>
          </a:xfrm>
          <a:prstGeom prst="rect">
            <a:avLst/>
          </a:prstGeom>
        </p:spPr>
      </p:pic>
      <p:pic>
        <p:nvPicPr>
          <p:cNvPr id="8" name="Picture 7" descr="logo_bookfacto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8064" y="757227"/>
            <a:ext cx="1508760" cy="8063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2468880"/>
            <a:ext cx="72237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300" b="1" i="0">
                <a:solidFill>
                  <a:srgbClr val="FBF6EC"/>
                </a:solidFill>
                <a:latin typeface="Cambria"/>
              </a:rPr>
              <a:t>Muasherti Uloom — معاشرتی علوم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3977639"/>
            <a:ext cx="6949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F2B33C"/>
                </a:solidFill>
                <a:latin typeface="Cambria"/>
              </a:rPr>
              <a:t>Grade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4754880"/>
            <a:ext cx="6766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0" i="0">
                <a:solidFill>
                  <a:srgbClr val="E7DCCB"/>
                </a:solidFill>
                <a:latin typeface="Calibri"/>
              </a:rPr>
              <a:t>A curriculum textbook from the Alfatah Series.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" y="6053328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1">
                <a:solidFill>
                  <a:srgbClr val="F2B33C"/>
                </a:solidFill>
                <a:latin typeface="Calibri"/>
              </a:rPr>
              <a:t>A Project of Azhar Publishers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548640"/>
            <a:ext cx="566928" cy="566928"/>
          </a:xfrm>
          <a:prstGeom prst="roundRect">
            <a:avLst>
              <a:gd name="adj" fmla="val 45000"/>
            </a:avLst>
          </a:prstGeom>
          <a:solidFill>
            <a:srgbClr val="E26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1">
                <a:solidFill>
                  <a:srgbClr val="FFFFFF"/>
                </a:solidFill>
                <a:latin typeface="Cambria"/>
              </a:rP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475488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6A2418"/>
                </a:solidFill>
                <a:latin typeface="Cambria"/>
              </a:rPr>
              <a:t>What's Inside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44168" y="1207008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E2674F"/>
                </a:solidFill>
                <a:latin typeface="Calibri"/>
              </a:rPr>
              <a:t>Muasherti Uloom — معاشرتی علوم  •  Grade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" y="1801368"/>
            <a:ext cx="3529584" cy="4342069"/>
          </a:xfrm>
          <a:prstGeom prst="roundRect">
            <a:avLst>
              <a:gd name="adj" fmla="val 6000"/>
            </a:avLst>
          </a:prstGeom>
          <a:solidFill>
            <a:srgbClr val="FCEFEA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-0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965960"/>
            <a:ext cx="3200400" cy="4012885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4617720" y="193852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46295" y="1967103"/>
            <a:ext cx="345186" cy="345186"/>
          </a:xfrm>
          <a:prstGeom prst="ellipse">
            <a:avLst/>
          </a:prstGeom>
          <a:solidFill>
            <a:srgbClr val="E26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21224" y="189280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Our family, community and country</a:t>
            </a:r>
          </a:p>
        </p:txBody>
      </p:sp>
      <p:sp>
        <p:nvSpPr>
          <p:cNvPr id="11" name="Oval 10"/>
          <p:cNvSpPr/>
          <p:nvPr/>
        </p:nvSpPr>
        <p:spPr>
          <a:xfrm>
            <a:off x="4617720" y="267004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46295" y="2698623"/>
            <a:ext cx="345186" cy="345186"/>
          </a:xfrm>
          <a:prstGeom prst="ellipse">
            <a:avLst/>
          </a:prstGeom>
          <a:solidFill>
            <a:srgbClr val="E26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21224" y="262432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Geography: maps, land and regions</a:t>
            </a:r>
          </a:p>
        </p:txBody>
      </p:sp>
      <p:sp>
        <p:nvSpPr>
          <p:cNvPr id="14" name="Oval 13"/>
          <p:cNvSpPr/>
          <p:nvPr/>
        </p:nvSpPr>
        <p:spPr>
          <a:xfrm>
            <a:off x="4617720" y="340156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646295" y="3430143"/>
            <a:ext cx="345186" cy="345186"/>
          </a:xfrm>
          <a:prstGeom prst="ellipse">
            <a:avLst/>
          </a:prstGeom>
          <a:solidFill>
            <a:srgbClr val="E26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21224" y="335584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History and national heroes</a:t>
            </a:r>
          </a:p>
        </p:txBody>
      </p:sp>
      <p:sp>
        <p:nvSpPr>
          <p:cNvPr id="17" name="Oval 16"/>
          <p:cNvSpPr/>
          <p:nvPr/>
        </p:nvSpPr>
        <p:spPr>
          <a:xfrm>
            <a:off x="4617720" y="413308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646295" y="4161663"/>
            <a:ext cx="345186" cy="345186"/>
          </a:xfrm>
          <a:prstGeom prst="ellipse">
            <a:avLst/>
          </a:prstGeom>
          <a:solidFill>
            <a:srgbClr val="E26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21224" y="408736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Civic sense and responsibilities</a:t>
            </a:r>
          </a:p>
        </p:txBody>
      </p:sp>
      <p:sp>
        <p:nvSpPr>
          <p:cNvPr id="20" name="Oval 19"/>
          <p:cNvSpPr/>
          <p:nvPr/>
        </p:nvSpPr>
        <p:spPr>
          <a:xfrm>
            <a:off x="4617720" y="486460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646295" y="4893183"/>
            <a:ext cx="345186" cy="345186"/>
          </a:xfrm>
          <a:prstGeom prst="ellipse">
            <a:avLst/>
          </a:prstGeom>
          <a:solidFill>
            <a:srgbClr val="E26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21224" y="481888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Culture, festivals and daily life</a:t>
            </a:r>
          </a:p>
        </p:txBody>
      </p:sp>
      <p:sp>
        <p:nvSpPr>
          <p:cNvPr id="23" name="Oval 22"/>
          <p:cNvSpPr/>
          <p:nvPr/>
        </p:nvSpPr>
        <p:spPr>
          <a:xfrm>
            <a:off x="4617720" y="559612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646295" y="5624703"/>
            <a:ext cx="345186" cy="345186"/>
          </a:xfrm>
          <a:prstGeom prst="ellipse">
            <a:avLst/>
          </a:prstGeom>
          <a:solidFill>
            <a:srgbClr val="E26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21224" y="555040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Map work, questions and activities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548640"/>
            <a:ext cx="566928" cy="566928"/>
          </a:xfrm>
          <a:prstGeom prst="roundRect">
            <a:avLst>
              <a:gd name="adj" fmla="val 45000"/>
            </a:avLst>
          </a:prstGeom>
          <a:solidFill>
            <a:srgbClr val="E26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2B33C"/>
                </a:solidFill>
                <a:latin typeface="Calibri"/>
              </a:rPr>
              <a:t>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475488"/>
            <a:ext cx="104241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6A2418"/>
                </a:solidFill>
                <a:latin typeface="Cambria"/>
              </a:rPr>
              <a:t>Purpose &amp; What You Get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10908792" cy="1463040"/>
          </a:xfrm>
          <a:prstGeom prst="roundRect">
            <a:avLst>
              <a:gd name="adj" fmla="val 10000"/>
            </a:avLst>
          </a:prstGeom>
          <a:solidFill>
            <a:srgbClr val="A24736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1847088"/>
            <a:ext cx="694944" cy="694944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828800"/>
            <a:ext cx="694944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0" b="1" i="0">
                <a:solidFill>
                  <a:srgbClr val="A24736"/>
                </a:solidFill>
                <a:latin typeface="Cambria"/>
              </a:rPr>
              <a:t>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591056"/>
            <a:ext cx="9418320" cy="12252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850" b="0" i="0">
                <a:solidFill>
                  <a:srgbClr val="FBF6EC"/>
                </a:solidFill>
                <a:latin typeface="Calibri"/>
              </a:rPr>
              <a:t>Introduces society, geography, history and civics for Grade 5, aligned to the Single National Curriculum.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2461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E2674F"/>
                </a:solidFill>
                <a:latin typeface="Cambria"/>
              </a:rPr>
              <a:t>Every book comes with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794760"/>
            <a:ext cx="5349240" cy="2542032"/>
          </a:xfrm>
          <a:prstGeom prst="roundRect">
            <a:avLst>
              <a:gd name="adj" fmla="val 7000"/>
            </a:avLst>
          </a:prstGeom>
          <a:solidFill>
            <a:srgbClr val="FCFCFD"/>
          </a:solidFill>
          <a:ln w="12700">
            <a:solidFill>
              <a:srgbClr val="E7EBF0"/>
            </a:solidFill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50976" y="4105656"/>
            <a:ext cx="640080" cy="640080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79551" y="4134231"/>
            <a:ext cx="582930" cy="582930"/>
          </a:xfrm>
          <a:prstGeom prst="ellipse">
            <a:avLst/>
          </a:prstGeom>
          <a:solidFill>
            <a:srgbClr val="E26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4928616"/>
            <a:ext cx="472744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50" b="1" i="0">
                <a:solidFill>
                  <a:srgbClr val="6A2418"/>
                </a:solidFill>
                <a:latin typeface="Cambria"/>
              </a:rPr>
              <a:t>Interactive Digital Version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5550408"/>
            <a:ext cx="472744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5C6672"/>
                </a:solidFill>
                <a:latin typeface="Calibri"/>
              </a:rPr>
              <a:t>A book-level interactive activity set drawn from the book's content for engaging, screen-based practice.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3794760"/>
            <a:ext cx="5349240" cy="2542032"/>
          </a:xfrm>
          <a:prstGeom prst="roundRect">
            <a:avLst>
              <a:gd name="adj" fmla="val 7000"/>
            </a:avLst>
          </a:prstGeom>
          <a:solidFill>
            <a:srgbClr val="FCFCFD"/>
          </a:solidFill>
          <a:ln w="12700">
            <a:solidFill>
              <a:srgbClr val="E7EBF0"/>
            </a:solidFill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665976" y="4105656"/>
            <a:ext cx="640080" cy="640080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694551" y="4134231"/>
            <a:ext cx="582930" cy="582930"/>
          </a:xfrm>
          <a:prstGeom prst="ellipse">
            <a:avLst/>
          </a:prstGeom>
          <a:solidFill>
            <a:srgbClr val="E26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65976" y="4928616"/>
            <a:ext cx="472744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50" b="1" i="0">
                <a:solidFill>
                  <a:srgbClr val="6A2418"/>
                </a:solidFill>
                <a:latin typeface="Cambria"/>
              </a:rPr>
              <a:t>Page-Turn Flipbook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65976" y="5550408"/>
            <a:ext cx="472744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5C6672"/>
                </a:solidFill>
                <a:latin typeface="Calibri"/>
              </a:rPr>
              <a:t>A digital flipbook e-sample of the full book that opens from the right and turns like the real book.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37376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1">
                <a:solidFill>
                  <a:srgbClr val="9AA2AC"/>
                </a:solidFill>
                <a:latin typeface="Calibri"/>
              </a:rPr>
              <a:t>A Project of Azhar Publishers  •  Alfatah Series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