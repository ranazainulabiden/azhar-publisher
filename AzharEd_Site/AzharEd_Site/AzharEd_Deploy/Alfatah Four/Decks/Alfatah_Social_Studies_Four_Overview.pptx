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A247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040880" y="-1554480"/>
            <a:ext cx="6949440" cy="6949440"/>
          </a:xfrm>
          <a:prstGeom prst="ellipse">
            <a:avLst/>
          </a:prstGeom>
          <a:solidFill>
            <a:srgbClr val="B85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966960" y="4572000"/>
            <a:ext cx="2926080" cy="2926080"/>
          </a:xfrm>
          <a:prstGeom prst="ellipse">
            <a:avLst/>
          </a:prstGeom>
          <a:solidFill>
            <a:srgbClr val="E267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129016" y="1307468"/>
            <a:ext cx="3447288" cy="4243063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20000" dist="40000" dir="5400000" rotWithShape="0">
              <a:srgbClr val="000000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p-0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453772"/>
            <a:ext cx="3154680" cy="3950455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02920" y="457200"/>
            <a:ext cx="4114800" cy="1406427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>
            <a:noFill/>
          </a:ln>
          <a:effectLst>
            <a:outerShdw blurRad="120000" dist="40000" dir="5400000" rotWithShape="0">
              <a:srgbClr val="000000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logo_azh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816" y="731520"/>
            <a:ext cx="1600200" cy="857787"/>
          </a:xfrm>
          <a:prstGeom prst="rect">
            <a:avLst/>
          </a:prstGeom>
        </p:spPr>
      </p:pic>
      <p:pic>
        <p:nvPicPr>
          <p:cNvPr id="8" name="Picture 7" descr="logo_bookfactor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98064" y="757227"/>
            <a:ext cx="1508760" cy="80637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66928" y="2468880"/>
            <a:ext cx="722376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3300" b="1" i="0">
                <a:solidFill>
                  <a:srgbClr val="FBF6EC"/>
                </a:solidFill>
                <a:latin typeface="Cambria"/>
              </a:rPr>
              <a:t>Muasherti Uloom — معاشرتی علوم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5216" y="3977639"/>
            <a:ext cx="69494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500" b="1" i="0">
                <a:solidFill>
                  <a:srgbClr val="F2B33C"/>
                </a:solidFill>
                <a:latin typeface="Cambria"/>
              </a:rPr>
              <a:t>Grade 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" y="4754880"/>
            <a:ext cx="67665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650" b="0" i="0">
                <a:solidFill>
                  <a:srgbClr val="E7DCCB"/>
                </a:solidFill>
                <a:latin typeface="Calibri"/>
              </a:rPr>
              <a:t>A curriculum textbook from the Alfatah Series.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5216" y="6053328"/>
            <a:ext cx="7315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0" i="1">
                <a:solidFill>
                  <a:srgbClr val="F2B33C"/>
                </a:solidFill>
                <a:latin typeface="Calibri"/>
              </a:rPr>
              <a:t>A Project of Azhar Publishers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66928" y="548640"/>
            <a:ext cx="566928" cy="566928"/>
          </a:xfrm>
          <a:prstGeom prst="roundRect">
            <a:avLst>
              <a:gd name="adj" fmla="val 45000"/>
            </a:avLst>
          </a:prstGeom>
          <a:solidFill>
            <a:srgbClr val="E267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548640"/>
            <a:ext cx="56692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600" b="1" i="1">
                <a:solidFill>
                  <a:srgbClr val="FFFFFF"/>
                </a:solidFill>
                <a:latin typeface="Cambria"/>
              </a:rPr>
              <a:t>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25880" y="475488"/>
            <a:ext cx="100584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6A2418"/>
                </a:solidFill>
                <a:latin typeface="Cambria"/>
              </a:rPr>
              <a:t>What's Inside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44168" y="1207008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E2674F"/>
                </a:solidFill>
                <a:latin typeface="Calibri"/>
              </a:rPr>
              <a:t>Muasherti Uloom — معاشرتی علوم  •  Grade 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93776" y="1801368"/>
            <a:ext cx="3529584" cy="4336892"/>
          </a:xfrm>
          <a:prstGeom prst="roundRect">
            <a:avLst>
              <a:gd name="adj" fmla="val 6000"/>
            </a:avLst>
          </a:prstGeom>
          <a:solidFill>
            <a:srgbClr val="FCEFEA"/>
          </a:solidFill>
          <a:ln>
            <a:noFill/>
          </a:ln>
          <a:effectLst>
            <a:outerShdw blurRad="120000" dist="40000" dir="5400000" rotWithShape="0">
              <a:srgbClr val="000000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p-0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965960"/>
            <a:ext cx="3200400" cy="4007708"/>
          </a:xfrm>
          <a:prstGeom prst="rect">
            <a:avLst/>
          </a:prstGeom>
        </p:spPr>
      </p:pic>
      <p:sp>
        <p:nvSpPr>
          <p:cNvPr id="8" name="Oval 7"/>
          <p:cNvSpPr/>
          <p:nvPr/>
        </p:nvSpPr>
        <p:spPr>
          <a:xfrm>
            <a:off x="4617720" y="1938528"/>
            <a:ext cx="402336" cy="402336"/>
          </a:xfrm>
          <a:prstGeom prst="ellipse">
            <a:avLst/>
          </a:prstGeom>
          <a:solidFill>
            <a:srgbClr val="F2B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646295" y="1967103"/>
            <a:ext cx="345186" cy="345186"/>
          </a:xfrm>
          <a:prstGeom prst="ellipse">
            <a:avLst/>
          </a:prstGeom>
          <a:solidFill>
            <a:srgbClr val="E267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21224" y="1892808"/>
            <a:ext cx="65836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50" b="1" i="0">
                <a:solidFill>
                  <a:srgbClr val="232B36"/>
                </a:solidFill>
                <a:latin typeface="Calibri"/>
              </a:rPr>
              <a:t>Our family, community and country</a:t>
            </a:r>
          </a:p>
        </p:txBody>
      </p:sp>
      <p:sp>
        <p:nvSpPr>
          <p:cNvPr id="11" name="Oval 10"/>
          <p:cNvSpPr/>
          <p:nvPr/>
        </p:nvSpPr>
        <p:spPr>
          <a:xfrm>
            <a:off x="4617720" y="2670048"/>
            <a:ext cx="402336" cy="402336"/>
          </a:xfrm>
          <a:prstGeom prst="ellipse">
            <a:avLst/>
          </a:prstGeom>
          <a:solidFill>
            <a:srgbClr val="F2B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646295" y="2698623"/>
            <a:ext cx="345186" cy="345186"/>
          </a:xfrm>
          <a:prstGeom prst="ellipse">
            <a:avLst/>
          </a:prstGeom>
          <a:solidFill>
            <a:srgbClr val="E267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21224" y="2624328"/>
            <a:ext cx="65836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50" b="1" i="0">
                <a:solidFill>
                  <a:srgbClr val="232B36"/>
                </a:solidFill>
                <a:latin typeface="Calibri"/>
              </a:rPr>
              <a:t>Geography: maps, land and regions</a:t>
            </a:r>
          </a:p>
        </p:txBody>
      </p:sp>
      <p:sp>
        <p:nvSpPr>
          <p:cNvPr id="14" name="Oval 13"/>
          <p:cNvSpPr/>
          <p:nvPr/>
        </p:nvSpPr>
        <p:spPr>
          <a:xfrm>
            <a:off x="4617720" y="3401568"/>
            <a:ext cx="402336" cy="402336"/>
          </a:xfrm>
          <a:prstGeom prst="ellipse">
            <a:avLst/>
          </a:prstGeom>
          <a:solidFill>
            <a:srgbClr val="F2B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646295" y="3430143"/>
            <a:ext cx="345186" cy="345186"/>
          </a:xfrm>
          <a:prstGeom prst="ellipse">
            <a:avLst/>
          </a:prstGeom>
          <a:solidFill>
            <a:srgbClr val="E267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21224" y="3355848"/>
            <a:ext cx="65836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50" b="1" i="0">
                <a:solidFill>
                  <a:srgbClr val="232B36"/>
                </a:solidFill>
                <a:latin typeface="Calibri"/>
              </a:rPr>
              <a:t>History and national heroes</a:t>
            </a:r>
          </a:p>
        </p:txBody>
      </p:sp>
      <p:sp>
        <p:nvSpPr>
          <p:cNvPr id="17" name="Oval 16"/>
          <p:cNvSpPr/>
          <p:nvPr/>
        </p:nvSpPr>
        <p:spPr>
          <a:xfrm>
            <a:off x="4617720" y="4133088"/>
            <a:ext cx="402336" cy="402336"/>
          </a:xfrm>
          <a:prstGeom prst="ellipse">
            <a:avLst/>
          </a:prstGeom>
          <a:solidFill>
            <a:srgbClr val="F2B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646295" y="4161663"/>
            <a:ext cx="345186" cy="345186"/>
          </a:xfrm>
          <a:prstGeom prst="ellipse">
            <a:avLst/>
          </a:prstGeom>
          <a:solidFill>
            <a:srgbClr val="E267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21224" y="4087368"/>
            <a:ext cx="65836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50" b="1" i="0">
                <a:solidFill>
                  <a:srgbClr val="232B36"/>
                </a:solidFill>
                <a:latin typeface="Calibri"/>
              </a:rPr>
              <a:t>Civic sense and responsibilities</a:t>
            </a:r>
          </a:p>
        </p:txBody>
      </p:sp>
      <p:sp>
        <p:nvSpPr>
          <p:cNvPr id="20" name="Oval 19"/>
          <p:cNvSpPr/>
          <p:nvPr/>
        </p:nvSpPr>
        <p:spPr>
          <a:xfrm>
            <a:off x="4617720" y="4864608"/>
            <a:ext cx="402336" cy="402336"/>
          </a:xfrm>
          <a:prstGeom prst="ellipse">
            <a:avLst/>
          </a:prstGeom>
          <a:solidFill>
            <a:srgbClr val="F2B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646295" y="4893183"/>
            <a:ext cx="345186" cy="345186"/>
          </a:xfrm>
          <a:prstGeom prst="ellipse">
            <a:avLst/>
          </a:prstGeom>
          <a:solidFill>
            <a:srgbClr val="E267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mbria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21224" y="4818888"/>
            <a:ext cx="65836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50" b="1" i="0">
                <a:solidFill>
                  <a:srgbClr val="232B36"/>
                </a:solidFill>
                <a:latin typeface="Calibri"/>
              </a:rPr>
              <a:t>Culture, festivals and daily life</a:t>
            </a:r>
          </a:p>
        </p:txBody>
      </p:sp>
      <p:sp>
        <p:nvSpPr>
          <p:cNvPr id="23" name="Oval 22"/>
          <p:cNvSpPr/>
          <p:nvPr/>
        </p:nvSpPr>
        <p:spPr>
          <a:xfrm>
            <a:off x="4617720" y="5596128"/>
            <a:ext cx="402336" cy="402336"/>
          </a:xfrm>
          <a:prstGeom prst="ellipse">
            <a:avLst/>
          </a:prstGeom>
          <a:solidFill>
            <a:srgbClr val="F2B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4646295" y="5624703"/>
            <a:ext cx="345186" cy="345186"/>
          </a:xfrm>
          <a:prstGeom prst="ellipse">
            <a:avLst/>
          </a:prstGeom>
          <a:solidFill>
            <a:srgbClr val="E267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mbria"/>
              </a:rP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21224" y="5550408"/>
            <a:ext cx="65836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50" b="1" i="0">
                <a:solidFill>
                  <a:srgbClr val="232B36"/>
                </a:solidFill>
                <a:latin typeface="Calibri"/>
              </a:rPr>
              <a:t>Map work, questions and activities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66928" y="548640"/>
            <a:ext cx="566928" cy="566928"/>
          </a:xfrm>
          <a:prstGeom prst="roundRect">
            <a:avLst>
              <a:gd name="adj" fmla="val 45000"/>
            </a:avLst>
          </a:prstGeom>
          <a:solidFill>
            <a:srgbClr val="E267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548640"/>
            <a:ext cx="56692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 i="0">
                <a:solidFill>
                  <a:srgbClr val="F2B33C"/>
                </a:solidFill>
                <a:latin typeface="Calibri"/>
              </a:rPr>
              <a:t>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25880" y="475488"/>
            <a:ext cx="1042416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6A2418"/>
                </a:solidFill>
                <a:latin typeface="Cambria"/>
              </a:rPr>
              <a:t>Purpose &amp; What You Get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63040"/>
            <a:ext cx="10908792" cy="1463040"/>
          </a:xfrm>
          <a:prstGeom prst="roundRect">
            <a:avLst>
              <a:gd name="adj" fmla="val 10000"/>
            </a:avLst>
          </a:prstGeom>
          <a:solidFill>
            <a:srgbClr val="A24736"/>
          </a:solidFill>
          <a:ln>
            <a:noFill/>
          </a:ln>
          <a:effectLst>
            <a:outerShdw blurRad="120000" dist="40000" dir="5400000" rotWithShape="0">
              <a:srgbClr val="000000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32688" y="1847088"/>
            <a:ext cx="694944" cy="694944"/>
          </a:xfrm>
          <a:prstGeom prst="ellipse">
            <a:avLst/>
          </a:prstGeom>
          <a:solidFill>
            <a:srgbClr val="F2B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828800"/>
            <a:ext cx="694944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000" b="1" i="0">
                <a:solidFill>
                  <a:srgbClr val="A24736"/>
                </a:solidFill>
                <a:latin typeface="Cambria"/>
              </a:rPr>
              <a:t>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74519" y="1591056"/>
            <a:ext cx="9418320" cy="12252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850" b="0" i="0">
                <a:solidFill>
                  <a:srgbClr val="FBF6EC"/>
                </a:solidFill>
                <a:latin typeface="Calibri"/>
              </a:rPr>
              <a:t>Introduces society, geography, history and civics for Grade 4, aligned to the Single National Curriculum.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324612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E2674F"/>
                </a:solidFill>
                <a:latin typeface="Cambria"/>
              </a:rPr>
              <a:t>Every book comes with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794760"/>
            <a:ext cx="5349240" cy="2542032"/>
          </a:xfrm>
          <a:prstGeom prst="roundRect">
            <a:avLst>
              <a:gd name="adj" fmla="val 7000"/>
            </a:avLst>
          </a:prstGeom>
          <a:solidFill>
            <a:srgbClr val="FCFCFD"/>
          </a:solidFill>
          <a:ln w="12700">
            <a:solidFill>
              <a:srgbClr val="E7EBF0"/>
            </a:solidFill>
          </a:ln>
          <a:effectLst>
            <a:outerShdw blurRad="120000" dist="40000" dir="5400000" rotWithShape="0">
              <a:srgbClr val="000000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50976" y="4105656"/>
            <a:ext cx="640080" cy="640080"/>
          </a:xfrm>
          <a:prstGeom prst="ellipse">
            <a:avLst/>
          </a:prstGeom>
          <a:solidFill>
            <a:srgbClr val="F2B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79551" y="4134231"/>
            <a:ext cx="582930" cy="582930"/>
          </a:xfrm>
          <a:prstGeom prst="ellipse">
            <a:avLst/>
          </a:prstGeom>
          <a:solidFill>
            <a:srgbClr val="E267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0976" y="4928616"/>
            <a:ext cx="4727448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50" b="1" i="0">
                <a:solidFill>
                  <a:srgbClr val="6A2418"/>
                </a:solidFill>
                <a:latin typeface="Cambria"/>
              </a:rPr>
              <a:t>Interactive Digital Version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0976" y="5550408"/>
            <a:ext cx="4727448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0" i="0">
                <a:solidFill>
                  <a:srgbClr val="5C6672"/>
                </a:solidFill>
                <a:latin typeface="Calibri"/>
              </a:rPr>
              <a:t>A book-level interactive activity set drawn from the book's content for engaging, screen-based practice.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55080" y="3794760"/>
            <a:ext cx="5349240" cy="2542032"/>
          </a:xfrm>
          <a:prstGeom prst="roundRect">
            <a:avLst>
              <a:gd name="adj" fmla="val 7000"/>
            </a:avLst>
          </a:prstGeom>
          <a:solidFill>
            <a:srgbClr val="FCFCFD"/>
          </a:solidFill>
          <a:ln w="12700">
            <a:solidFill>
              <a:srgbClr val="E7EBF0"/>
            </a:solidFill>
          </a:ln>
          <a:effectLst>
            <a:outerShdw blurRad="120000" dist="40000" dir="5400000" rotWithShape="0">
              <a:srgbClr val="000000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665976" y="4105656"/>
            <a:ext cx="640080" cy="640080"/>
          </a:xfrm>
          <a:prstGeom prst="ellipse">
            <a:avLst/>
          </a:prstGeom>
          <a:solidFill>
            <a:srgbClr val="F2B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694551" y="4134231"/>
            <a:ext cx="582930" cy="582930"/>
          </a:xfrm>
          <a:prstGeom prst="ellipse">
            <a:avLst/>
          </a:prstGeom>
          <a:solidFill>
            <a:srgbClr val="E267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65976" y="4928616"/>
            <a:ext cx="4727448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50" b="1" i="0">
                <a:solidFill>
                  <a:srgbClr val="6A2418"/>
                </a:solidFill>
                <a:latin typeface="Cambria"/>
              </a:rPr>
              <a:t>Page-Turn Flipbook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65976" y="5550408"/>
            <a:ext cx="4727448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0" i="0">
                <a:solidFill>
                  <a:srgbClr val="5C6672"/>
                </a:solidFill>
                <a:latin typeface="Calibri"/>
              </a:rPr>
              <a:t>A digital flipbook e-sample of the full book that opens from the right and turns like the real book.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6437376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1">
                <a:solidFill>
                  <a:srgbClr val="9AA2AC"/>
                </a:solidFill>
                <a:latin typeface="Calibri"/>
              </a:rPr>
              <a:t>A Project of Azhar Publishers  •  Alfatah Series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