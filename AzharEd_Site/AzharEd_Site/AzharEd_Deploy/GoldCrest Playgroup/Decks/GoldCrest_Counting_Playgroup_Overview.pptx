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55C7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040880" y="-1554480"/>
            <a:ext cx="6949440" cy="6949440"/>
          </a:xfrm>
          <a:prstGeom prst="ellipse">
            <a:avLst/>
          </a:prstGeom>
          <a:solidFill>
            <a:srgbClr val="1B6D8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4572000"/>
            <a:ext cx="2926080" cy="2926080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9016" y="1089371"/>
            <a:ext cx="3538727" cy="4679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over_cnt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1235675"/>
            <a:ext cx="3246120" cy="438664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02920" y="457200"/>
            <a:ext cx="4270247" cy="1153689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_goldcre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78269"/>
            <a:ext cx="2057400" cy="711551"/>
          </a:xfrm>
          <a:prstGeom prst="rect">
            <a:avLst/>
          </a:prstGeom>
        </p:spPr>
      </p:pic>
      <p:pic>
        <p:nvPicPr>
          <p:cNvPr id="8" name="Picture 7" descr="logo_bookfact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667512"/>
            <a:ext cx="1371600" cy="73306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66928" y="2468880"/>
            <a:ext cx="72237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FBF6EC"/>
                </a:solidFill>
                <a:latin typeface="Cambria"/>
              </a:rPr>
              <a:t>GoldCrest Counting 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3703320"/>
            <a:ext cx="69494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2B33C"/>
                </a:solidFill>
                <a:latin typeface="Cambria"/>
              </a:rPr>
              <a:t>Playgroup   •   Age 3+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4480560"/>
            <a:ext cx="67665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650" b="0" i="0">
                <a:solidFill>
                  <a:srgbClr val="E7DCCB"/>
                </a:solidFill>
                <a:latin typeface="Calibri"/>
              </a:rPr>
              <a:t>An activity-based early-years book from the GoldCrest Series.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6053328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 i="1">
                <a:solidFill>
                  <a:srgbClr val="F2B33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603504" y="603504"/>
            <a:ext cx="310896" cy="31089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600" b="1" i="1">
                <a:solidFill>
                  <a:srgbClr val="FFFFFF"/>
                </a:solidFill>
                <a:latin typeface="Cambria"/>
              </a:rPr>
              <a:t>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475488"/>
            <a:ext cx="822960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124B5C"/>
                </a:solidFill>
                <a:latin typeface="Cambria"/>
              </a:rPr>
              <a:t>What's Inside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44168" y="120700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1C87A2"/>
                </a:solidFill>
                <a:latin typeface="Calibri"/>
              </a:rPr>
              <a:t>GoldCrest Counting Book   Playgroup  •  Age 3+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93776" y="1801368"/>
            <a:ext cx="3529584" cy="4654048"/>
          </a:xfrm>
          <a:prstGeom prst="roundRect">
            <a:avLst>
              <a:gd name="adj" fmla="val 6000"/>
            </a:avLst>
          </a:prstGeom>
          <a:solidFill>
            <a:srgbClr val="EAF4F8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cover_cntp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1965960"/>
            <a:ext cx="3200400" cy="432486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4617720" y="19385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646295" y="1967103"/>
            <a:ext cx="345186" cy="34518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21224" y="18928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Numbers 1–20 with themed pictures</a:t>
            </a:r>
          </a:p>
        </p:txBody>
      </p:sp>
      <p:sp>
        <p:nvSpPr>
          <p:cNvPr id="12" name="Oval 11"/>
          <p:cNvSpPr/>
          <p:nvPr/>
        </p:nvSpPr>
        <p:spPr>
          <a:xfrm>
            <a:off x="4617720" y="267004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646295" y="2698623"/>
            <a:ext cx="345186" cy="34518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1224" y="262432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Number tracing</a:t>
            </a:r>
          </a:p>
        </p:txBody>
      </p:sp>
      <p:sp>
        <p:nvSpPr>
          <p:cNvPr id="15" name="Oval 14"/>
          <p:cNvSpPr/>
          <p:nvPr/>
        </p:nvSpPr>
        <p:spPr>
          <a:xfrm>
            <a:off x="4617720" y="340156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646295" y="3430143"/>
            <a:ext cx="345186" cy="34518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21224" y="335584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Counting and matching quantities</a:t>
            </a:r>
          </a:p>
        </p:txBody>
      </p:sp>
      <p:sp>
        <p:nvSpPr>
          <p:cNvPr id="18" name="Oval 17"/>
          <p:cNvSpPr/>
          <p:nvPr/>
        </p:nvSpPr>
        <p:spPr>
          <a:xfrm>
            <a:off x="4617720" y="413308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646295" y="4161663"/>
            <a:ext cx="345186" cy="34518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21224" y="408736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Concepts: thick / thin, heavy / light</a:t>
            </a:r>
          </a:p>
        </p:txBody>
      </p:sp>
      <p:sp>
        <p:nvSpPr>
          <p:cNvPr id="21" name="Oval 20"/>
          <p:cNvSpPr/>
          <p:nvPr/>
        </p:nvSpPr>
        <p:spPr>
          <a:xfrm>
            <a:off x="4617720" y="486460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646295" y="4893183"/>
            <a:ext cx="345186" cy="34518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21224" y="481888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Concepts: full / empty, more / less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5596128"/>
            <a:ext cx="402336" cy="402336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646295" y="5624703"/>
            <a:ext cx="345186" cy="345186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FFFFFF"/>
                </a:solidFill>
                <a:latin typeface="Cambria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1224" y="5550408"/>
            <a:ext cx="65836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650" b="1" i="0">
                <a:solidFill>
                  <a:srgbClr val="232B36"/>
                </a:solidFill>
                <a:latin typeface="Calibri"/>
              </a:rPr>
              <a:t>Simple, playful practice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66928" y="548640"/>
            <a:ext cx="566928" cy="566928"/>
          </a:xfrm>
          <a:prstGeom prst="roundRect">
            <a:avLst>
              <a:gd name="adj" fmla="val 45000"/>
            </a:avLst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2B33C"/>
                </a:solidFill>
                <a:latin typeface="Calibri"/>
              </a:rPr>
              <a:t>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5880" y="475488"/>
            <a:ext cx="10424160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124B5C"/>
                </a:solidFill>
                <a:latin typeface="Cambria"/>
              </a:rPr>
              <a:t>Purpose &amp; Classroom Support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463040"/>
            <a:ext cx="10908792" cy="1463040"/>
          </a:xfrm>
          <a:prstGeom prst="roundRect">
            <a:avLst>
              <a:gd name="adj" fmla="val 10000"/>
            </a:avLst>
          </a:prstGeom>
          <a:solidFill>
            <a:srgbClr val="155C70"/>
          </a:solidFill>
          <a:ln>
            <a:noFill/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32688" y="1847088"/>
            <a:ext cx="694944" cy="694944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828800"/>
            <a:ext cx="694944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000" b="1" i="0">
                <a:solidFill>
                  <a:srgbClr val="155C70"/>
                </a:solidFill>
                <a:latin typeface="Cambria"/>
              </a:rPr>
              <a:t>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74519" y="1591056"/>
            <a:ext cx="9418320" cy="12252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2000"/>
              </a:lnSpc>
            </a:pPr>
            <a:r>
              <a:rPr sz="1850" b="0" i="0">
                <a:solidFill>
                  <a:srgbClr val="FBF6EC"/>
                </a:solidFill>
                <a:latin typeface="Calibri"/>
              </a:rPr>
              <a:t>Introduces first numbers, counting and comparison concepts in a gentle, picture-led way.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324612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900" b="1" i="0">
                <a:solidFill>
                  <a:srgbClr val="1C87A2"/>
                </a:solidFill>
                <a:latin typeface="Cambria"/>
              </a:rPr>
              <a:t>Every book comes with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50976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79551" y="4134231"/>
            <a:ext cx="582930" cy="582930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Teacher's Lesson Plan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 40-week lesson plan that guides teachers, day by day.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62272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4773168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801743" y="4134231"/>
            <a:ext cx="582930" cy="582930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73168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Practice Papers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73168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Monthly tests and term exam papers for children to attempt.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84463" y="3794760"/>
            <a:ext cx="3456432" cy="2542032"/>
          </a:xfrm>
          <a:prstGeom prst="roundRect">
            <a:avLst>
              <a:gd name="adj" fmla="val 7000"/>
            </a:avLst>
          </a:prstGeom>
          <a:solidFill>
            <a:srgbClr val="FCFCFD"/>
          </a:solidFill>
          <a:ln w="12700">
            <a:solidFill>
              <a:srgbClr val="E7EBF0"/>
            </a:solidFill>
          </a:ln>
          <a:effectLst>
            <a:outerShdw blurRad="120000" dist="40000" dir="5400000" rotWithShape="0">
              <a:srgbClr val="000000">
                <a:alpha val="34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95359" y="4105656"/>
            <a:ext cx="640080" cy="640080"/>
          </a:xfrm>
          <a:prstGeom prst="ellipse">
            <a:avLst/>
          </a:prstGeom>
          <a:solidFill>
            <a:srgbClr val="F2B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623934" y="4134231"/>
            <a:ext cx="582930" cy="582930"/>
          </a:xfrm>
          <a:prstGeom prst="ellipse">
            <a:avLst/>
          </a:prstGeom>
          <a:solidFill>
            <a:srgbClr val="1C87A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4928616"/>
            <a:ext cx="28346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50" b="1" i="0">
                <a:solidFill>
                  <a:srgbClr val="124B5C"/>
                </a:solidFill>
                <a:latin typeface="Cambria"/>
              </a:rPr>
              <a:t>Digital Interactive Version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95359" y="5550408"/>
            <a:ext cx="2834639" cy="777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300" b="0" i="0">
                <a:solidFill>
                  <a:srgbClr val="5C6672"/>
                </a:solidFill>
                <a:latin typeface="Calibri"/>
              </a:rPr>
              <a:t>An interactive flipbook and digital exercises for engaging, screen-based practice.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37376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 i="1">
                <a:solidFill>
                  <a:srgbClr val="9AA2AC"/>
                </a:solidFill>
                <a:latin typeface="Calibri"/>
              </a:rPr>
              <a:t>A Project of Azhar Publishers &amp; Book Factory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