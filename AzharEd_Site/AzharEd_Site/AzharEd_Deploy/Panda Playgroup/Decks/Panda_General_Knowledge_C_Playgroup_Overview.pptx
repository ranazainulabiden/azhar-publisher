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254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040880" y="-1554480"/>
            <a:ext cx="6949440" cy="6949440"/>
          </a:xfrm>
          <a:prstGeom prst="ellipse">
            <a:avLst/>
          </a:prstGeom>
          <a:solidFill>
            <a:srgbClr val="C86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4572000"/>
            <a:ext cx="2926080" cy="2926080"/>
          </a:xfrm>
          <a:prstGeom prst="ellipse">
            <a:avLst/>
          </a:prstGeom>
          <a:solidFill>
            <a:srgbClr val="E0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9016" y="1254489"/>
            <a:ext cx="3447288" cy="434902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ver_gk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400793"/>
            <a:ext cx="3154680" cy="405641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457200"/>
            <a:ext cx="4544568" cy="123672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pan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67512"/>
            <a:ext cx="2331720" cy="816102"/>
          </a:xfrm>
          <a:prstGeom prst="rect">
            <a:avLst/>
          </a:prstGeom>
        </p:spPr>
      </p:pic>
      <p:pic>
        <p:nvPicPr>
          <p:cNvPr id="8" name="Picture 7" descr="logo_bookfac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709030"/>
            <a:ext cx="1371600" cy="73306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2468880"/>
            <a:ext cx="72237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BF6EC"/>
                </a:solidFill>
                <a:latin typeface="Cambria"/>
              </a:rPr>
              <a:t>Panda General Knowledge —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3703320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2B33C"/>
                </a:solidFill>
                <a:latin typeface="Cambria"/>
              </a:rPr>
              <a:t>Playgroup   •   Age 3+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4480560"/>
            <a:ext cx="6766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0" i="0">
                <a:solidFill>
                  <a:srgbClr val="E7DCCB"/>
                </a:solidFill>
                <a:latin typeface="Calibri"/>
              </a:rPr>
              <a:t>An activity-based early-years book from the Panda Series.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605332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1">
                <a:solidFill>
                  <a:srgbClr val="F2B33C"/>
                </a:solidFill>
                <a:latin typeface="Calibri"/>
              </a:rPr>
              <a:t>A Project of Azhar Publishers &amp; Book Factory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E0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1">
                <a:solidFill>
                  <a:srgbClr val="FFFFFF"/>
                </a:solidFill>
                <a:latin typeface="Cambria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8229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7E3316"/>
                </a:solidFill>
                <a:latin typeface="Cambria"/>
              </a:rPr>
              <a:t>What's Inside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" y="120700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07A4E"/>
                </a:solidFill>
                <a:latin typeface="Calibri"/>
              </a:rPr>
              <a:t>Panda General Knowledge — C   Playgroup  •  Age 3+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" y="1801368"/>
            <a:ext cx="3529584" cy="4444386"/>
          </a:xfrm>
          <a:prstGeom prst="roundRect">
            <a:avLst>
              <a:gd name="adj" fmla="val 6000"/>
            </a:avLst>
          </a:prstGeom>
          <a:solidFill>
            <a:srgbClr val="FCEEE6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ver_gk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65960"/>
            <a:ext cx="3200400" cy="4115202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4617720" y="19385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46295" y="1967103"/>
            <a:ext cx="345186" cy="345186"/>
          </a:xfrm>
          <a:prstGeom prst="ellipse">
            <a:avLst/>
          </a:prstGeom>
          <a:solidFill>
            <a:srgbClr val="E0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1224" y="18928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Myself and the five pillars of Islam</a:t>
            </a:r>
          </a:p>
        </p:txBody>
      </p:sp>
      <p:sp>
        <p:nvSpPr>
          <p:cNvPr id="11" name="Oval 10"/>
          <p:cNvSpPr/>
          <p:nvPr/>
        </p:nvSpPr>
        <p:spPr>
          <a:xfrm>
            <a:off x="4617720" y="267004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46295" y="2698623"/>
            <a:ext cx="345186" cy="345186"/>
          </a:xfrm>
          <a:prstGeom prst="ellipse">
            <a:avLst/>
          </a:prstGeom>
          <a:solidFill>
            <a:srgbClr val="E0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21224" y="262432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Pakistan, our cities and historical places</a:t>
            </a:r>
          </a:p>
        </p:txBody>
      </p:sp>
      <p:sp>
        <p:nvSpPr>
          <p:cNvPr id="14" name="Oval 13"/>
          <p:cNvSpPr/>
          <p:nvPr/>
        </p:nvSpPr>
        <p:spPr>
          <a:xfrm>
            <a:off x="4617720" y="340156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46295" y="3430143"/>
            <a:ext cx="345186" cy="345186"/>
          </a:xfrm>
          <a:prstGeom prst="ellipse">
            <a:avLst/>
          </a:prstGeom>
          <a:solidFill>
            <a:srgbClr val="E0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1224" y="335584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School, body parts and daily routine</a:t>
            </a:r>
          </a:p>
        </p:txBody>
      </p:sp>
      <p:sp>
        <p:nvSpPr>
          <p:cNvPr id="17" name="Oval 16"/>
          <p:cNvSpPr/>
          <p:nvPr/>
        </p:nvSpPr>
        <p:spPr>
          <a:xfrm>
            <a:off x="4617720" y="413308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646295" y="4161663"/>
            <a:ext cx="345186" cy="345186"/>
          </a:xfrm>
          <a:prstGeom prst="ellipse">
            <a:avLst/>
          </a:prstGeom>
          <a:solidFill>
            <a:srgbClr val="E0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1224" y="408736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Fruits, vegetables, birds and flowers</a:t>
            </a:r>
          </a:p>
        </p:txBody>
      </p:sp>
      <p:sp>
        <p:nvSpPr>
          <p:cNvPr id="20" name="Oval 19"/>
          <p:cNvSpPr/>
          <p:nvPr/>
        </p:nvSpPr>
        <p:spPr>
          <a:xfrm>
            <a:off x="4617720" y="486460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46295" y="4893183"/>
            <a:ext cx="345186" cy="345186"/>
          </a:xfrm>
          <a:prstGeom prst="ellipse">
            <a:avLst/>
          </a:prstGeom>
          <a:solidFill>
            <a:srgbClr val="E0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1224" y="481888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Provinces, dresses and professionals</a:t>
            </a:r>
          </a:p>
        </p:txBody>
      </p:sp>
      <p:sp>
        <p:nvSpPr>
          <p:cNvPr id="23" name="Oval 22"/>
          <p:cNvSpPr/>
          <p:nvPr/>
        </p:nvSpPr>
        <p:spPr>
          <a:xfrm>
            <a:off x="4617720" y="55961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46295" y="5624703"/>
            <a:ext cx="345186" cy="345186"/>
          </a:xfrm>
          <a:prstGeom prst="ellipse">
            <a:avLst/>
          </a:prstGeom>
          <a:solidFill>
            <a:srgbClr val="E0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1224" y="55504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Computer, months and traffic signals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E0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2B33C"/>
                </a:solidFill>
                <a:latin typeface="Calibri"/>
              </a:rPr>
              <a:t>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104241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7E3316"/>
                </a:solidFill>
                <a:latin typeface="Cambria"/>
              </a:rPr>
              <a:t>Purpose &amp; Classroom Support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0908792" cy="1463040"/>
          </a:xfrm>
          <a:prstGeom prst="roundRect">
            <a:avLst>
              <a:gd name="adj" fmla="val 10000"/>
            </a:avLst>
          </a:prstGeom>
          <a:solidFill>
            <a:srgbClr val="C2542E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1847088"/>
            <a:ext cx="694944" cy="694944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28800"/>
            <a:ext cx="69494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 i="0">
                <a:solidFill>
                  <a:srgbClr val="C2542E"/>
                </a:solidFill>
                <a:latin typeface="Cambria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591056"/>
            <a:ext cx="9418320" cy="1225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850" b="0" i="0">
                <a:solidFill>
                  <a:srgbClr val="FBF6EC"/>
                </a:solidFill>
                <a:latin typeface="Calibri"/>
              </a:rPr>
              <a:t>Builds everyday general knowledge and national awareness through big pictures, simple questions and fun activities.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46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E07A4E"/>
                </a:solidFill>
                <a:latin typeface="Cambria"/>
              </a:rPr>
              <a:t>Every book comes with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0976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79551" y="4134231"/>
            <a:ext cx="582930" cy="582930"/>
          </a:xfrm>
          <a:prstGeom prst="ellipse">
            <a:avLst/>
          </a:prstGeom>
          <a:solidFill>
            <a:srgbClr val="E0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7E3316"/>
                </a:solidFill>
                <a:latin typeface="Cambria"/>
              </a:rPr>
              <a:t>Teacher's Lesson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A 40-week lesson plan that guides teachers, day by day.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62272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773168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01743" y="4134231"/>
            <a:ext cx="582930" cy="582930"/>
          </a:xfrm>
          <a:prstGeom prst="ellipse">
            <a:avLst/>
          </a:prstGeom>
          <a:solidFill>
            <a:srgbClr val="E0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7E3316"/>
                </a:solidFill>
                <a:latin typeface="Cambria"/>
              </a:rPr>
              <a:t>Practice Papers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3168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Monthly tests and term exam papers for children to attempt.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84463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95359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623934" y="4134231"/>
            <a:ext cx="582930" cy="582930"/>
          </a:xfrm>
          <a:prstGeom prst="ellipse">
            <a:avLst/>
          </a:prstGeom>
          <a:solidFill>
            <a:srgbClr val="E0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59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7E3316"/>
                </a:solidFill>
                <a:latin typeface="Cambria"/>
              </a:rPr>
              <a:t>Digital Interactive Version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59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An interactive flipbook and digital exercises for engaging, screen-based practice.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3737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9AA2AC"/>
                </a:solidFill>
                <a:latin typeface="Calibri"/>
              </a:rPr>
              <a:t>A Project of Azhar Publishers &amp; Book Factory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